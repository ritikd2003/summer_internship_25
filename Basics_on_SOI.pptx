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image" Target="../media/image1.jpe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IISER-K_Logo.png" descr="IISER-K_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73862" y="-76154"/>
            <a:ext cx="3836275" cy="4029072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Basics on Spin-Orbit-Interactions"/>
          <p:cNvSpPr txBox="1"/>
          <p:nvPr/>
        </p:nvSpPr>
        <p:spPr>
          <a:xfrm>
            <a:off x="7395209" y="5120148"/>
            <a:ext cx="9593581" cy="845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Basics on Spin-Orbit-Interactions</a:t>
            </a:r>
          </a:p>
        </p:txBody>
      </p:sp>
      <p:sp>
        <p:nvSpPr>
          <p:cNvPr id="173" name="—by…"/>
          <p:cNvSpPr txBox="1"/>
          <p:nvPr/>
        </p:nvSpPr>
        <p:spPr>
          <a:xfrm>
            <a:off x="17033594" y="6032385"/>
            <a:ext cx="4536187" cy="1651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500"/>
            </a:pPr>
            <a:r>
              <a:t>—by</a:t>
            </a:r>
          </a:p>
          <a:p>
            <a:pPr>
              <a:defRPr sz="3500"/>
            </a:pPr>
            <a:r>
              <a:t>Ritik Dubey(22MS208)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Outline"/>
          <p:cNvSpPr/>
          <p:nvPr/>
        </p:nvSpPr>
        <p:spPr>
          <a:xfrm>
            <a:off x="8555976" y="156620"/>
            <a:ext cx="7272048" cy="1270001"/>
          </a:xfrm>
          <a:prstGeom prst="roundRect">
            <a:avLst>
              <a:gd name="adj" fmla="val 15000"/>
            </a:avLst>
          </a:prstGeom>
          <a:solidFill>
            <a:srgbClr val="D5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5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Outline</a:t>
            </a:r>
          </a:p>
        </p:txBody>
      </p:sp>
      <p:sp>
        <p:nvSpPr>
          <p:cNvPr id="176" name="Polarisation and Spatial DOF"/>
          <p:cNvSpPr/>
          <p:nvPr/>
        </p:nvSpPr>
        <p:spPr>
          <a:xfrm>
            <a:off x="917139" y="1967828"/>
            <a:ext cx="7272047" cy="1270001"/>
          </a:xfrm>
          <a:prstGeom prst="roundRect">
            <a:avLst>
              <a:gd name="adj" fmla="val 15000"/>
            </a:avLst>
          </a:prstGeom>
          <a:solidFill>
            <a:srgbClr val="D5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Polarisation and Spatial DOF</a:t>
            </a:r>
          </a:p>
        </p:txBody>
      </p:sp>
      <p:sp>
        <p:nvSpPr>
          <p:cNvPr id="177" name="Foundation of SOI"/>
          <p:cNvSpPr/>
          <p:nvPr/>
        </p:nvSpPr>
        <p:spPr>
          <a:xfrm>
            <a:off x="917139" y="3675484"/>
            <a:ext cx="7272047" cy="1270001"/>
          </a:xfrm>
          <a:prstGeom prst="roundRect">
            <a:avLst>
              <a:gd name="adj" fmla="val 15000"/>
            </a:avLst>
          </a:prstGeom>
          <a:solidFill>
            <a:srgbClr val="D5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Foundation of SOI</a:t>
            </a:r>
          </a:p>
        </p:txBody>
      </p:sp>
      <p:sp>
        <p:nvSpPr>
          <p:cNvPr id="178" name="Optical angular momenta"/>
          <p:cNvSpPr/>
          <p:nvPr/>
        </p:nvSpPr>
        <p:spPr>
          <a:xfrm>
            <a:off x="1035623" y="5383141"/>
            <a:ext cx="7272047" cy="1270001"/>
          </a:xfrm>
          <a:prstGeom prst="roundRect">
            <a:avLst>
              <a:gd name="adj" fmla="val 15000"/>
            </a:avLst>
          </a:prstGeom>
          <a:solidFill>
            <a:srgbClr val="D5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Optical angular momenta</a:t>
            </a:r>
          </a:p>
        </p:txBody>
      </p:sp>
      <p:sp>
        <p:nvSpPr>
          <p:cNvPr id="179" name="Geometrical phases"/>
          <p:cNvSpPr/>
          <p:nvPr/>
        </p:nvSpPr>
        <p:spPr>
          <a:xfrm>
            <a:off x="1035623" y="8054913"/>
            <a:ext cx="7272047" cy="1270001"/>
          </a:xfrm>
          <a:prstGeom prst="roundRect">
            <a:avLst>
              <a:gd name="adj" fmla="val 15000"/>
            </a:avLst>
          </a:prstGeom>
          <a:solidFill>
            <a:srgbClr val="D5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Geometrical phases</a:t>
            </a:r>
          </a:p>
        </p:txBody>
      </p:sp>
      <p:sp>
        <p:nvSpPr>
          <p:cNvPr id="180" name="spin redirection Berry phase…"/>
          <p:cNvSpPr/>
          <p:nvPr/>
        </p:nvSpPr>
        <p:spPr>
          <a:xfrm>
            <a:off x="10639993" y="8427327"/>
            <a:ext cx="7272048" cy="2222038"/>
          </a:xfrm>
          <a:prstGeom prst="roundRect">
            <a:avLst>
              <a:gd name="adj" fmla="val 8573"/>
            </a:avLst>
          </a:prstGeom>
          <a:solidFill>
            <a:srgbClr val="D5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 defTabSz="825500">
              <a:lnSpc>
                <a:spcPct val="15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spin redirection Berry phase</a:t>
            </a:r>
          </a:p>
          <a:p>
            <a:pPr algn="ctr" defTabSz="825500">
              <a:lnSpc>
                <a:spcPct val="15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Pancharatnam-Berry phase</a:t>
            </a:r>
          </a:p>
        </p:txBody>
      </p:sp>
      <p:sp>
        <p:nvSpPr>
          <p:cNvPr id="181" name="SAM…"/>
          <p:cNvSpPr/>
          <p:nvPr/>
        </p:nvSpPr>
        <p:spPr>
          <a:xfrm>
            <a:off x="10639993" y="5205003"/>
            <a:ext cx="7272048" cy="2088918"/>
          </a:xfrm>
          <a:prstGeom prst="roundRect">
            <a:avLst>
              <a:gd name="adj" fmla="val 9120"/>
            </a:avLst>
          </a:prstGeom>
          <a:solidFill>
            <a:srgbClr val="D5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 defTabSz="825500">
              <a:lnSpc>
                <a:spcPct val="15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SAM</a:t>
            </a:r>
          </a:p>
          <a:p>
            <a:pPr algn="ctr" defTabSz="825500">
              <a:lnSpc>
                <a:spcPct val="15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Intrinsic OAM</a:t>
            </a:r>
          </a:p>
          <a:p>
            <a:pPr algn="ctr" defTabSz="825500">
              <a:lnSpc>
                <a:spcPct val="15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Extrinsic OAM</a:t>
            </a:r>
          </a:p>
        </p:txBody>
      </p:sp>
      <p:sp>
        <p:nvSpPr>
          <p:cNvPr id="182" name="Line"/>
          <p:cNvSpPr/>
          <p:nvPr/>
        </p:nvSpPr>
        <p:spPr>
          <a:xfrm flipV="1">
            <a:off x="631389" y="1310970"/>
            <a:ext cx="1" cy="9876984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6" name="Connection Line"/>
          <p:cNvSpPr/>
          <p:nvPr/>
        </p:nvSpPr>
        <p:spPr>
          <a:xfrm>
            <a:off x="8704866" y="9501042"/>
            <a:ext cx="1722832" cy="90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7337" fill="norm" stroke="1" extrusionOk="0">
                <a:moveTo>
                  <a:pt x="21600" y="13210"/>
                </a:moveTo>
                <a:cubicBezTo>
                  <a:pt x="11056" y="21600"/>
                  <a:pt x="3856" y="17197"/>
                  <a:pt x="0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187" name="Connection Line"/>
          <p:cNvSpPr/>
          <p:nvPr/>
        </p:nvSpPr>
        <p:spPr>
          <a:xfrm>
            <a:off x="8704866" y="6601884"/>
            <a:ext cx="1722832" cy="90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7337" fill="norm" stroke="1" extrusionOk="0">
                <a:moveTo>
                  <a:pt x="21600" y="13210"/>
                </a:moveTo>
                <a:cubicBezTo>
                  <a:pt x="11056" y="21600"/>
                  <a:pt x="3856" y="17197"/>
                  <a:pt x="0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185" name="SOI in inhomogeneous anisotropic medium"/>
          <p:cNvSpPr/>
          <p:nvPr/>
        </p:nvSpPr>
        <p:spPr>
          <a:xfrm>
            <a:off x="1035623" y="10489278"/>
            <a:ext cx="7272047" cy="1270001"/>
          </a:xfrm>
          <a:prstGeom prst="roundRect">
            <a:avLst>
              <a:gd name="adj" fmla="val 15000"/>
            </a:avLst>
          </a:prstGeom>
          <a:solidFill>
            <a:srgbClr val="D5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5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SOI in inhomogeneous anisotropic medium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olarisation &amp; Spacial DOF"/>
          <p:cNvSpPr/>
          <p:nvPr/>
        </p:nvSpPr>
        <p:spPr>
          <a:xfrm>
            <a:off x="7147776" y="227526"/>
            <a:ext cx="10088448" cy="1601941"/>
          </a:xfrm>
          <a:prstGeom prst="roundRect">
            <a:avLst>
              <a:gd name="adj" fmla="val 11892"/>
            </a:avLst>
          </a:prstGeom>
          <a:solidFill>
            <a:schemeClr val="accent5">
              <a:hueOff val="-152895"/>
              <a:lumOff val="12368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5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Polarisation &amp; Spacial DOF</a:t>
            </a:r>
          </a:p>
        </p:txBody>
      </p:sp>
      <p:sp>
        <p:nvSpPr>
          <p:cNvPr id="190" name="Polarisation: it is the specific directions in which the electric field of light oscillate over time."/>
          <p:cNvSpPr txBox="1"/>
          <p:nvPr/>
        </p:nvSpPr>
        <p:spPr>
          <a:xfrm>
            <a:off x="1125865" y="10034240"/>
            <a:ext cx="20998689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4000"/>
            </a:pPr>
            <a:r>
              <a:rPr b="1"/>
              <a:t>Polarisation:</a:t>
            </a:r>
            <a:r>
              <a:t> it is the specific directions in which the electric field of light oscillate over time.</a:t>
            </a:r>
          </a:p>
        </p:txBody>
      </p:sp>
      <p:sp>
        <p:nvSpPr>
          <p:cNvPr id="191" name="Light"/>
          <p:cNvSpPr txBox="1"/>
          <p:nvPr/>
        </p:nvSpPr>
        <p:spPr>
          <a:xfrm>
            <a:off x="11690095" y="2921522"/>
            <a:ext cx="163891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Light </a:t>
            </a:r>
          </a:p>
        </p:txBody>
      </p:sp>
      <p:sp>
        <p:nvSpPr>
          <p:cNvPr id="192" name="Polarization DOF"/>
          <p:cNvSpPr txBox="1"/>
          <p:nvPr/>
        </p:nvSpPr>
        <p:spPr>
          <a:xfrm>
            <a:off x="6192301" y="4817383"/>
            <a:ext cx="4733646" cy="833832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Polarization DOF</a:t>
            </a:r>
          </a:p>
        </p:txBody>
      </p:sp>
      <p:sp>
        <p:nvSpPr>
          <p:cNvPr id="193" name="Spatial DOF"/>
          <p:cNvSpPr txBox="1"/>
          <p:nvPr/>
        </p:nvSpPr>
        <p:spPr>
          <a:xfrm>
            <a:off x="13883515" y="4817383"/>
            <a:ext cx="3425445" cy="833832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Spatial DOF</a:t>
            </a:r>
          </a:p>
        </p:txBody>
      </p:sp>
      <p:sp>
        <p:nvSpPr>
          <p:cNvPr id="194" name="DOF mean I have the freedom to manipulate light without effecting other properties"/>
          <p:cNvSpPr txBox="1"/>
          <p:nvPr/>
        </p:nvSpPr>
        <p:spPr>
          <a:xfrm>
            <a:off x="1194554" y="8639131"/>
            <a:ext cx="16706597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500"/>
            </a:lvl1pPr>
          </a:lstStyle>
          <a:p>
            <a:pPr/>
            <a:r>
              <a:t>DOF mean I have the freedom to manipulate light without effecting other properties </a:t>
            </a:r>
          </a:p>
        </p:txBody>
      </p:sp>
      <p:sp>
        <p:nvSpPr>
          <p:cNvPr id="195" name="Line"/>
          <p:cNvSpPr/>
          <p:nvPr/>
        </p:nvSpPr>
        <p:spPr>
          <a:xfrm flipH="1">
            <a:off x="11252947" y="4057292"/>
            <a:ext cx="736513" cy="59920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6" name="Line"/>
          <p:cNvSpPr/>
          <p:nvPr/>
        </p:nvSpPr>
        <p:spPr>
          <a:xfrm>
            <a:off x="13144206" y="3857019"/>
            <a:ext cx="600078" cy="60007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Foundation of SOI"/>
          <p:cNvSpPr/>
          <p:nvPr/>
        </p:nvSpPr>
        <p:spPr>
          <a:xfrm>
            <a:off x="7147776" y="227526"/>
            <a:ext cx="10088448" cy="1601941"/>
          </a:xfrm>
          <a:prstGeom prst="roundRect">
            <a:avLst>
              <a:gd name="adj" fmla="val 11892"/>
            </a:avLst>
          </a:prstGeom>
          <a:solidFill>
            <a:schemeClr val="accent5">
              <a:hueOff val="-152895"/>
              <a:lumOff val="12368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5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Foundation of SOI</a:t>
            </a:r>
          </a:p>
        </p:txBody>
      </p:sp>
      <p:sp>
        <p:nvSpPr>
          <p:cNvPr id="199" name="In traditional Geometrical Optics, we can manipulate both DOF independently, No SOI"/>
          <p:cNvSpPr txBox="1"/>
          <p:nvPr/>
        </p:nvSpPr>
        <p:spPr>
          <a:xfrm>
            <a:off x="888897" y="2974857"/>
            <a:ext cx="17281336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500"/>
            </a:lvl1pPr>
          </a:lstStyle>
          <a:p>
            <a:pPr/>
            <a:r>
              <a:t>In traditional Geometrical Optics, we can manipulate both DOF independently, No SOI </a:t>
            </a:r>
          </a:p>
        </p:txBody>
      </p:sp>
      <p:pic>
        <p:nvPicPr>
          <p:cNvPr id="200" name="1.svg" descr="1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49134" y="4018397"/>
            <a:ext cx="9644382" cy="4191167"/>
          </a:xfrm>
          <a:prstGeom prst="rect">
            <a:avLst/>
          </a:prstGeom>
          <a:ln w="12700">
            <a:miter lim="400000"/>
          </a:ln>
        </p:spPr>
      </p:pic>
      <p:sp>
        <p:nvSpPr>
          <p:cNvPr id="201" name="Only Spatial DOF changes (phase front)"/>
          <p:cNvSpPr/>
          <p:nvPr/>
        </p:nvSpPr>
        <p:spPr>
          <a:xfrm>
            <a:off x="11983542" y="5038160"/>
            <a:ext cx="4871173" cy="1816508"/>
          </a:xfrm>
          <a:prstGeom prst="roundRect">
            <a:avLst>
              <a:gd name="adj" fmla="val 10487"/>
            </a:avLst>
          </a:prstGeom>
          <a:solidFill>
            <a:srgbClr val="D5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Only Spatial DOF changes (phase front)</a:t>
            </a:r>
          </a:p>
        </p:txBody>
      </p:sp>
      <p:sp>
        <p:nvSpPr>
          <p:cNvPr id="202" name="Only Polarisation DOF changes"/>
          <p:cNvSpPr/>
          <p:nvPr/>
        </p:nvSpPr>
        <p:spPr>
          <a:xfrm>
            <a:off x="12157935" y="10063361"/>
            <a:ext cx="4871173" cy="1816509"/>
          </a:xfrm>
          <a:prstGeom prst="roundRect">
            <a:avLst>
              <a:gd name="adj" fmla="val 10487"/>
            </a:avLst>
          </a:prstGeom>
          <a:solidFill>
            <a:srgbClr val="D5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Only Polarisation DOF changes</a:t>
            </a:r>
          </a:p>
        </p:txBody>
      </p:sp>
      <p:sp>
        <p:nvSpPr>
          <p:cNvPr id="203" name="Line"/>
          <p:cNvSpPr/>
          <p:nvPr/>
        </p:nvSpPr>
        <p:spPr>
          <a:xfrm flipV="1">
            <a:off x="18981541" y="5022388"/>
            <a:ext cx="1" cy="721297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4" name="Interaction of light at subwavelength scale introduces SOI.…"/>
          <p:cNvSpPr txBox="1"/>
          <p:nvPr/>
        </p:nvSpPr>
        <p:spPr>
          <a:xfrm>
            <a:off x="19260016" y="6055305"/>
            <a:ext cx="4871173" cy="2931364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4000"/>
            </a:pPr>
            <a:r>
              <a:t>Interaction of light at subwavelength scale introduces SOI.</a:t>
            </a:r>
          </a:p>
          <a:p>
            <a:pPr>
              <a:defRPr sz="4000"/>
            </a:pPr>
            <a:r>
              <a:t>e.g, SHE</a:t>
            </a:r>
          </a:p>
        </p:txBody>
      </p:sp>
      <p:pic>
        <p:nvPicPr>
          <p:cNvPr id="205" name="unnamed.png" descr="unnamed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968823" y="7287314"/>
            <a:ext cx="7249379" cy="634320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Before Discussing SOI"/>
          <p:cNvSpPr txBox="1"/>
          <p:nvPr/>
        </p:nvSpPr>
        <p:spPr>
          <a:xfrm>
            <a:off x="8947784" y="3327478"/>
            <a:ext cx="7763257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sz="6000" u="sng"/>
            </a:lvl1pPr>
          </a:lstStyle>
          <a:p>
            <a:pPr/>
            <a:r>
              <a:t>Before Discussing SOI</a:t>
            </a:r>
          </a:p>
        </p:txBody>
      </p:sp>
      <p:sp>
        <p:nvSpPr>
          <p:cNvPr id="208" name="Optical Angular momenta"/>
          <p:cNvSpPr txBox="1"/>
          <p:nvPr/>
        </p:nvSpPr>
        <p:spPr>
          <a:xfrm>
            <a:off x="2737247" y="5450821"/>
            <a:ext cx="7374256" cy="871221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Optical Angular momenta</a:t>
            </a:r>
          </a:p>
        </p:txBody>
      </p:sp>
      <p:sp>
        <p:nvSpPr>
          <p:cNvPr id="209" name="Geometrical phase"/>
          <p:cNvSpPr txBox="1"/>
          <p:nvPr/>
        </p:nvSpPr>
        <p:spPr>
          <a:xfrm>
            <a:off x="15936362" y="5450821"/>
            <a:ext cx="5490846" cy="871221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/>
            <a:r>
              <a:t>Geometrical phase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Optical Angular momenta"/>
          <p:cNvSpPr/>
          <p:nvPr/>
        </p:nvSpPr>
        <p:spPr>
          <a:xfrm>
            <a:off x="7147776" y="227526"/>
            <a:ext cx="10088448" cy="1601941"/>
          </a:xfrm>
          <a:prstGeom prst="roundRect">
            <a:avLst>
              <a:gd name="adj" fmla="val 11892"/>
            </a:avLst>
          </a:prstGeom>
          <a:solidFill>
            <a:schemeClr val="accent5">
              <a:hueOff val="-152895"/>
              <a:lumOff val="12368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5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Optical Angular momenta</a:t>
            </a:r>
          </a:p>
        </p:txBody>
      </p:sp>
      <p:sp>
        <p:nvSpPr>
          <p:cNvPr id="212" name="Beth’s experiment:"/>
          <p:cNvSpPr txBox="1"/>
          <p:nvPr/>
        </p:nvSpPr>
        <p:spPr>
          <a:xfrm>
            <a:off x="699323" y="2694328"/>
            <a:ext cx="4358133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 u="sng"/>
            </a:lvl1pPr>
          </a:lstStyle>
          <a:p>
            <a:pPr/>
            <a:r>
              <a:t>Beth’s experiment:</a:t>
            </a:r>
          </a:p>
        </p:txBody>
      </p:sp>
      <p:pic>
        <p:nvPicPr>
          <p:cNvPr id="213" name="Screenshot 2025-05-30 at 12.49.23 AM.png" descr="Screenshot 2025-05-30 at 12.49.23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24302" y="4069881"/>
            <a:ext cx="4624233" cy="5103925"/>
          </a:xfrm>
          <a:prstGeom prst="rect">
            <a:avLst/>
          </a:prstGeom>
          <a:ln w="12700">
            <a:miter lim="400000"/>
          </a:ln>
        </p:spPr>
      </p:pic>
      <p:pic>
        <p:nvPicPr>
          <p:cNvPr id="214" name="Screenshot 2025-05-30 at 1.06.32 AM.png" descr="Screenshot 2025-05-30 at 1.06.32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82538" y="4945200"/>
            <a:ext cx="4432301" cy="1041401"/>
          </a:xfrm>
          <a:prstGeom prst="rect">
            <a:avLst/>
          </a:prstGeom>
          <a:ln w="12700">
            <a:miter lim="400000"/>
          </a:ln>
        </p:spPr>
      </p:pic>
      <p:sp>
        <p:nvSpPr>
          <p:cNvPr id="215" name="Circular Polarised light -&gt; Electric field vector oscillates in circle…"/>
          <p:cNvSpPr txBox="1"/>
          <p:nvPr/>
        </p:nvSpPr>
        <p:spPr>
          <a:xfrm>
            <a:off x="7309749" y="2962436"/>
            <a:ext cx="13015226" cy="1651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500"/>
            </a:pPr>
            <a:r>
              <a:t>Circular Polarised light -&gt; Electric field vector oscillates in circle</a:t>
            </a:r>
          </a:p>
          <a:p>
            <a:pPr>
              <a:defRPr sz="3500"/>
            </a:pPr>
            <a:r>
              <a:t> thus carries Angular momentum (Polarisation DOF)</a:t>
            </a:r>
          </a:p>
        </p:txBody>
      </p:sp>
      <p:sp>
        <p:nvSpPr>
          <p:cNvPr id="216" name="elliptically polarized light characterized by −1 ≤ σ ≤ +1 (σ = ±1 for left/right circularly polarized light, respectively, and σ= 0 for linearly polarized light)"/>
          <p:cNvSpPr txBox="1"/>
          <p:nvPr/>
        </p:nvSpPr>
        <p:spPr>
          <a:xfrm>
            <a:off x="7192907" y="6318135"/>
            <a:ext cx="16684379" cy="1079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500"/>
            </a:lvl1pPr>
          </a:lstStyle>
          <a:p>
            <a:pPr/>
            <a:r>
              <a:t>elliptically polarized light characterized by −1 ≤ σ ≤ +1 (σ = ±1 for left/right circularly polarized light, respectively, and σ= 0 for linearly polarized light)</a:t>
            </a:r>
          </a:p>
        </p:txBody>
      </p:sp>
      <p:sp>
        <p:nvSpPr>
          <p:cNvPr id="217" name="Spin AM is intrinsic as it solely depends on Polarisation and it is frame independent"/>
          <p:cNvSpPr txBox="1"/>
          <p:nvPr/>
        </p:nvSpPr>
        <p:spPr>
          <a:xfrm>
            <a:off x="7217796" y="7977444"/>
            <a:ext cx="16254158" cy="1079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500"/>
            </a:lvl1pPr>
          </a:lstStyle>
          <a:p>
            <a:pPr/>
            <a:r>
              <a:t>Spin AM is intrinsic as it solely depends on Polarisation and it is frame independent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Screenshot 2025-05-30 at 1.16.32 AM.png" descr="Screenshot 2025-05-30 at 1.16.32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0612" y="2322901"/>
            <a:ext cx="5367063" cy="5152381"/>
          </a:xfrm>
          <a:prstGeom prst="rect">
            <a:avLst/>
          </a:prstGeom>
          <a:ln w="12700">
            <a:miter lim="400000"/>
          </a:ln>
        </p:spPr>
      </p:pic>
      <p:sp>
        <p:nvSpPr>
          <p:cNvPr id="220" name="Analogous experiment proposed by Allen et al."/>
          <p:cNvSpPr txBox="1"/>
          <p:nvPr/>
        </p:nvSpPr>
        <p:spPr>
          <a:xfrm>
            <a:off x="310263" y="796895"/>
            <a:ext cx="1059180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Analogous experiment proposed by Allen et al.</a:t>
            </a:r>
          </a:p>
        </p:txBody>
      </p:sp>
      <p:sp>
        <p:nvSpPr>
          <p:cNvPr id="221" name="As wave propagate, Phase front rotate (Spatial DOF), thus carries Angular momentum"/>
          <p:cNvSpPr txBox="1"/>
          <p:nvPr/>
        </p:nvSpPr>
        <p:spPr>
          <a:xfrm>
            <a:off x="7445684" y="1930476"/>
            <a:ext cx="15649492" cy="2121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500"/>
            </a:lvl1pPr>
          </a:lstStyle>
          <a:p>
            <a:pPr/>
            <a:r>
              <a:t>As wave propagate, Phase front rotate (Spatial DOF), thus carries Angular momentum</a:t>
            </a:r>
          </a:p>
        </p:txBody>
      </p:sp>
      <p:pic>
        <p:nvPicPr>
          <p:cNvPr id="222" name="Screenshot 2025-05-30 at 1.26.26 AM.png" descr="Screenshot 2025-05-30 at 1.26.26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535670" y="3220577"/>
            <a:ext cx="4071089" cy="137946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Screenshot 2025-05-30 at 1.27.35 AM.png" descr="Screenshot 2025-05-30 at 1.27.35 A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207882" y="4923463"/>
            <a:ext cx="10489127" cy="2343316"/>
          </a:xfrm>
          <a:prstGeom prst="rect">
            <a:avLst/>
          </a:prstGeom>
          <a:ln w="12700">
            <a:miter lim="400000"/>
          </a:ln>
        </p:spPr>
      </p:pic>
      <p:sp>
        <p:nvSpPr>
          <p:cNvPr id="224" name="optical vortex beam"/>
          <p:cNvSpPr txBox="1"/>
          <p:nvPr/>
        </p:nvSpPr>
        <p:spPr>
          <a:xfrm>
            <a:off x="978986" y="7595786"/>
            <a:ext cx="3417913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optical vortex beam</a:t>
            </a:r>
          </a:p>
        </p:txBody>
      </p:sp>
      <p:pic>
        <p:nvPicPr>
          <p:cNvPr id="225" name="Screenshot 2025-05-30 at 1.33.36 AM.png" descr="Screenshot 2025-05-30 at 1.33.36 A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293002" y="7422336"/>
            <a:ext cx="8527834" cy="1330248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This orbital AM is intrinsic as it only depends on l and it is frame independent"/>
          <p:cNvSpPr txBox="1"/>
          <p:nvPr/>
        </p:nvSpPr>
        <p:spPr>
          <a:xfrm>
            <a:off x="9297272" y="9293090"/>
            <a:ext cx="14705556" cy="10822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500"/>
            </a:pPr>
            <a:r>
              <a:t>This orbital AM is intrinsic as it only depends on </a:t>
            </a:r>
            <a:r>
              <a:rPr i="1">
                <a:latin typeface="Georgia"/>
                <a:ea typeface="Georgia"/>
                <a:cs typeface="Georgia"/>
                <a:sym typeface="Georgia"/>
              </a:rPr>
              <a:t>l</a:t>
            </a:r>
            <a:r>
              <a:t> and it is frame independent</a:t>
            </a:r>
          </a:p>
        </p:txBody>
      </p:sp>
      <p:pic>
        <p:nvPicPr>
          <p:cNvPr id="227" name="Screenshot 2025-05-30 at 1.40.29 AM.png" descr="Screenshot 2025-05-30 at 1.40.29 AM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784497" y="9791581"/>
            <a:ext cx="3822701" cy="3632201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Optical tweezer"/>
          <p:cNvSpPr txBox="1"/>
          <p:nvPr/>
        </p:nvSpPr>
        <p:spPr>
          <a:xfrm>
            <a:off x="826192" y="9123933"/>
            <a:ext cx="3332036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500"/>
            </a:lvl1pPr>
          </a:lstStyle>
          <a:p>
            <a:pPr/>
            <a:r>
              <a:t>Optical tweezer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Screenshot 2025-06-02 at 2.10.33 AM.png" descr="Screenshot 2025-06-02 at 2.10.33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55909" y="1994154"/>
            <a:ext cx="9627148" cy="97276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Screenshot 2025-06-02 at 2.12.13 AM.png" descr="Screenshot 2025-06-02 at 2.12.13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423050" y="2147206"/>
            <a:ext cx="10926115" cy="4745951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Derivation"/>
          <p:cNvSpPr/>
          <p:nvPr/>
        </p:nvSpPr>
        <p:spPr>
          <a:xfrm>
            <a:off x="447467" y="326401"/>
            <a:ext cx="5714926" cy="1258318"/>
          </a:xfrm>
          <a:prstGeom prst="roundRect">
            <a:avLst>
              <a:gd name="adj" fmla="val 15000"/>
            </a:avLst>
          </a:prstGeom>
          <a:solidFill>
            <a:srgbClr val="D5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4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Derivation</a:t>
            </a:r>
          </a:p>
        </p:txBody>
      </p:sp>
      <p:sp>
        <p:nvSpPr>
          <p:cNvPr id="233" name="Line"/>
          <p:cNvSpPr/>
          <p:nvPr/>
        </p:nvSpPr>
        <p:spPr>
          <a:xfrm flipV="1">
            <a:off x="13244831" y="954070"/>
            <a:ext cx="1" cy="713222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Screenshot 2025-06-02 at 2.14.43 AM.png" descr="Screenshot 2025-06-02 at 2.14.43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4603" y="1086674"/>
            <a:ext cx="13107470" cy="9142577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Screenshot 2025-06-02 at 2.15.23 AM.png" descr="Screenshot 2025-06-02 at 2.15.23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063819" y="770209"/>
            <a:ext cx="10090529" cy="10860799"/>
          </a:xfrm>
          <a:prstGeom prst="rect">
            <a:avLst/>
          </a:prstGeom>
          <a:ln w="12700">
            <a:miter lim="400000"/>
          </a:ln>
        </p:spPr>
      </p:pic>
      <p:sp>
        <p:nvSpPr>
          <p:cNvPr id="237" name="Line"/>
          <p:cNvSpPr/>
          <p:nvPr/>
        </p:nvSpPr>
        <p:spPr>
          <a:xfrm flipV="1">
            <a:off x="13814550" y="1001608"/>
            <a:ext cx="1" cy="713222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Screenshot 2025-06-02 at 2.17.56 AM.png" descr="Screenshot 2025-06-02 at 2.17.56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551" y="456866"/>
            <a:ext cx="11823136" cy="7111441"/>
          </a:xfrm>
          <a:prstGeom prst="rect">
            <a:avLst/>
          </a:prstGeom>
          <a:ln w="12700">
            <a:miter lim="400000"/>
          </a:ln>
        </p:spPr>
      </p:pic>
      <p:sp>
        <p:nvSpPr>
          <p:cNvPr id="240" name="Line"/>
          <p:cNvSpPr/>
          <p:nvPr/>
        </p:nvSpPr>
        <p:spPr>
          <a:xfrm flipV="1">
            <a:off x="13814550" y="1001608"/>
            <a:ext cx="1" cy="713222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One last type of optical Angular momenta -&gt; Extrinsic Orbital AM"/>
          <p:cNvSpPr txBox="1"/>
          <p:nvPr/>
        </p:nvSpPr>
        <p:spPr>
          <a:xfrm>
            <a:off x="922394" y="1612245"/>
            <a:ext cx="18170653" cy="820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One last type of optical Angular momenta -&gt;</a:t>
            </a:r>
            <a:r>
              <a:rPr b="1"/>
              <a:t> Extrinsic Orbital AM</a:t>
            </a:r>
          </a:p>
        </p:txBody>
      </p:sp>
      <p:sp>
        <p:nvSpPr>
          <p:cNvPr id="243" name="simple Classical Angular momentum, L = r x p"/>
          <p:cNvSpPr txBox="1"/>
          <p:nvPr/>
        </p:nvSpPr>
        <p:spPr>
          <a:xfrm>
            <a:off x="979366" y="3292918"/>
            <a:ext cx="12879325" cy="820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simple Classical Angular momentum, </a:t>
            </a:r>
            <a:r>
              <a:rPr b="1"/>
              <a:t>L</a:t>
            </a:r>
            <a:r>
              <a:t> = </a:t>
            </a:r>
            <a:r>
              <a:rPr b="1"/>
              <a:t>r</a:t>
            </a:r>
            <a:r>
              <a:t> x </a:t>
            </a:r>
            <a:r>
              <a:rPr b="1"/>
              <a:t>p</a:t>
            </a:r>
            <a:r>
              <a:t> </a:t>
            </a:r>
          </a:p>
        </p:txBody>
      </p:sp>
      <p:sp>
        <p:nvSpPr>
          <p:cNvPr id="244" name="coordinate origin dependent, Extrinsic"/>
          <p:cNvSpPr txBox="1"/>
          <p:nvPr/>
        </p:nvSpPr>
        <p:spPr>
          <a:xfrm>
            <a:off x="950880" y="4973591"/>
            <a:ext cx="10603079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coordinate origin dependent, </a:t>
            </a:r>
            <a:r>
              <a:rPr i="1"/>
              <a:t>Extrinsic</a:t>
            </a:r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Dynamical phase: phase difference arises from optical path length or refractive index…"/>
          <p:cNvSpPr txBox="1"/>
          <p:nvPr/>
        </p:nvSpPr>
        <p:spPr>
          <a:xfrm>
            <a:off x="992066" y="2964824"/>
            <a:ext cx="19291809" cy="1818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4000"/>
            </a:pPr>
            <a:r>
              <a:rPr u="sng"/>
              <a:t>Dynamical phase:</a:t>
            </a:r>
            <a:r>
              <a:t> phase difference arises from optical path length or refractive index</a:t>
            </a:r>
          </a:p>
          <a:p>
            <a:pPr>
              <a:defRPr sz="4000"/>
            </a:pPr>
            <a:r>
              <a:t>                                 e.g, YDSE</a:t>
            </a:r>
          </a:p>
        </p:txBody>
      </p:sp>
      <p:sp>
        <p:nvSpPr>
          <p:cNvPr id="247" name="Geometrical phase"/>
          <p:cNvSpPr/>
          <p:nvPr/>
        </p:nvSpPr>
        <p:spPr>
          <a:xfrm>
            <a:off x="7147776" y="227526"/>
            <a:ext cx="10088448" cy="1601941"/>
          </a:xfrm>
          <a:prstGeom prst="roundRect">
            <a:avLst>
              <a:gd name="adj" fmla="val 11892"/>
            </a:avLst>
          </a:prstGeom>
          <a:solidFill>
            <a:schemeClr val="accent5">
              <a:hueOff val="-152895"/>
              <a:lumOff val="12368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5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Geometrical phase</a:t>
            </a:r>
          </a:p>
        </p:txBody>
      </p:sp>
      <p:sp>
        <p:nvSpPr>
          <p:cNvPr id="248" name="Geometrical phase"/>
          <p:cNvSpPr txBox="1"/>
          <p:nvPr/>
        </p:nvSpPr>
        <p:spPr>
          <a:xfrm>
            <a:off x="1321198" y="5976644"/>
            <a:ext cx="525140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u="sng"/>
            </a:lvl1pPr>
          </a:lstStyle>
          <a:p>
            <a:pPr/>
            <a:r>
              <a:t>Geometrical phase</a:t>
            </a:r>
          </a:p>
        </p:txBody>
      </p:sp>
      <p:sp>
        <p:nvSpPr>
          <p:cNvPr id="249" name="spin redirection Berry phase"/>
          <p:cNvSpPr txBox="1"/>
          <p:nvPr/>
        </p:nvSpPr>
        <p:spPr>
          <a:xfrm>
            <a:off x="2445207" y="8229697"/>
            <a:ext cx="21182277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4000"/>
            </a:lvl1pPr>
          </a:lstStyle>
          <a:p>
            <a:pPr/>
            <a:r>
              <a:t>spin redirection Berry phase</a:t>
            </a:r>
          </a:p>
        </p:txBody>
      </p:sp>
      <p:sp>
        <p:nvSpPr>
          <p:cNvPr id="250" name="Pancharatnam-Berry phase"/>
          <p:cNvSpPr txBox="1"/>
          <p:nvPr/>
        </p:nvSpPr>
        <p:spPr>
          <a:xfrm>
            <a:off x="2445207" y="9610080"/>
            <a:ext cx="21182277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4000"/>
            </a:lvl1pPr>
          </a:lstStyle>
          <a:p>
            <a:pPr/>
            <a:r>
              <a:t>Pancharatnam-Berry phase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pin redirection Berry phase"/>
          <p:cNvSpPr/>
          <p:nvPr/>
        </p:nvSpPr>
        <p:spPr>
          <a:xfrm>
            <a:off x="7147776" y="227526"/>
            <a:ext cx="10088448" cy="1601941"/>
          </a:xfrm>
          <a:prstGeom prst="roundRect">
            <a:avLst>
              <a:gd name="adj" fmla="val 11892"/>
            </a:avLst>
          </a:prstGeom>
          <a:solidFill>
            <a:schemeClr val="accent5">
              <a:hueOff val="-152895"/>
              <a:lumOff val="12368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>
              <a:defRPr sz="5000"/>
            </a:lvl1pPr>
          </a:lstStyle>
          <a:p>
            <a:pPr/>
            <a:r>
              <a:t>spin redirection Berry phase</a:t>
            </a:r>
          </a:p>
        </p:txBody>
      </p:sp>
      <p:sp>
        <p:nvSpPr>
          <p:cNvPr id="253" name="spin redirection Berry phase: Adiabatic evolution of the wavevector in a helically wound isotropic waveguide leads to an extra geometric phase, observed as a rotation of polarization in the lab frame, caused by the parallel transport of the polarization "/>
          <p:cNvSpPr txBox="1"/>
          <p:nvPr/>
        </p:nvSpPr>
        <p:spPr>
          <a:xfrm>
            <a:off x="656589" y="2261402"/>
            <a:ext cx="15534833" cy="2055084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500"/>
            </a:pPr>
            <a:r>
              <a:rPr b="1"/>
              <a:t>spin redirection Berry phase:</a:t>
            </a:r>
            <a:r>
              <a:t> Adiabatic evolution of the wavevector in a helically wound isotropic waveguide leads to an extra geometric phase, observed as a rotation of polarization in the lab frame, caused by the parallel transport of the polarization vector.</a:t>
            </a:r>
          </a:p>
        </p:txBody>
      </p:sp>
      <p:pic>
        <p:nvPicPr>
          <p:cNvPr id="254" name="Screenshot 2025-05-30 at 2.27.47 AM.png" descr="Screenshot 2025-05-30 at 2.27.47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639971" y="1121961"/>
            <a:ext cx="6485265" cy="415204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5" name="Spherical-coordinate-system-r-th-phdocumentclass12ptminimal-usepackageamsmath.png" descr="Spherical-coordinate-system-r-th-phdocumentclass12ptminimal-usepackageamsmath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56222" y="7584110"/>
            <a:ext cx="4087608" cy="3861587"/>
          </a:xfrm>
          <a:prstGeom prst="rect">
            <a:avLst/>
          </a:prstGeom>
          <a:ln w="12700">
            <a:miter lim="400000"/>
          </a:ln>
        </p:spPr>
      </p:pic>
      <p:sp>
        <p:nvSpPr>
          <p:cNvPr id="256" name="Line"/>
          <p:cNvSpPr/>
          <p:nvPr/>
        </p:nvSpPr>
        <p:spPr>
          <a:xfrm flipH="1">
            <a:off x="3231537" y="8120132"/>
            <a:ext cx="89730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257" name="Spherical-coordinate-system-r-th-phdocumentclass12ptminimal-usepackageamsmath.png" descr="Spherical-coordinate-system-r-th-phdocumentclass12ptminimal-usepackageamsmath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659983" y="7584110"/>
            <a:ext cx="4087607" cy="3861587"/>
          </a:xfrm>
          <a:prstGeom prst="rect">
            <a:avLst/>
          </a:prstGeom>
          <a:ln w="12700">
            <a:miter lim="400000"/>
          </a:ln>
        </p:spPr>
      </p:pic>
      <p:pic>
        <p:nvPicPr>
          <p:cNvPr id="258" name="Spherical-coordinate-system-r-th-phdocumentclass12ptminimal-usepackageamsmath.png" descr="Spherical-coordinate-system-r-th-phdocumentclass12ptminimal-usepackageamsmath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924265" y="7584110"/>
            <a:ext cx="4087607" cy="3861587"/>
          </a:xfrm>
          <a:prstGeom prst="rect">
            <a:avLst/>
          </a:prstGeom>
          <a:ln w="12700">
            <a:miter lim="400000"/>
          </a:ln>
        </p:spPr>
      </p:pic>
      <p:pic>
        <p:nvPicPr>
          <p:cNvPr id="259" name="Spherical-coordinate-system-r-th-phdocumentclass12ptminimal-usepackageamsmath.png" descr="Spherical-coordinate-system-r-th-phdocumentclass12ptminimal-usepackageamsmath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043063" y="7584110"/>
            <a:ext cx="4087608" cy="3861587"/>
          </a:xfrm>
          <a:prstGeom prst="rect">
            <a:avLst/>
          </a:prstGeom>
          <a:ln w="12700">
            <a:miter lim="400000"/>
          </a:ln>
        </p:spPr>
      </p:pic>
      <p:sp>
        <p:nvSpPr>
          <p:cNvPr id="260" name="Line"/>
          <p:cNvSpPr/>
          <p:nvPr/>
        </p:nvSpPr>
        <p:spPr>
          <a:xfrm flipH="1">
            <a:off x="8400556" y="10355095"/>
            <a:ext cx="89730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61" name="Line"/>
          <p:cNvSpPr/>
          <p:nvPr/>
        </p:nvSpPr>
        <p:spPr>
          <a:xfrm flipH="1">
            <a:off x="16229260" y="9520683"/>
            <a:ext cx="315789" cy="75534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62" name="Line"/>
          <p:cNvSpPr/>
          <p:nvPr/>
        </p:nvSpPr>
        <p:spPr>
          <a:xfrm flipH="1">
            <a:off x="20353418" y="7969570"/>
            <a:ext cx="708909" cy="70890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  <a:effectLst>
            <a:outerShdw sx="100000" sy="100000" kx="0" ky="0" algn="b" rotWithShape="0" blurRad="381000" dist="114300" dir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63" name="Intuition"/>
          <p:cNvSpPr txBox="1"/>
          <p:nvPr/>
        </p:nvSpPr>
        <p:spPr>
          <a:xfrm>
            <a:off x="893908" y="7059111"/>
            <a:ext cx="2293621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u="sng"/>
            </a:lvl1pPr>
          </a:lstStyle>
          <a:p>
            <a:pPr/>
            <a:r>
              <a:t>Intuition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Screenshot 2025-05-30 at 2.51.48 AM.png" descr="Screenshot 2025-05-30 at 2.51.48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1885" y="499150"/>
            <a:ext cx="8582959" cy="7506451"/>
          </a:xfrm>
          <a:prstGeom prst="rect">
            <a:avLst/>
          </a:prstGeom>
          <a:ln w="12700">
            <a:miter lim="400000"/>
          </a:ln>
        </p:spPr>
      </p:pic>
      <p:sp>
        <p:nvSpPr>
          <p:cNvPr id="266" name="Rounded Rectangle"/>
          <p:cNvSpPr/>
          <p:nvPr/>
        </p:nvSpPr>
        <p:spPr>
          <a:xfrm>
            <a:off x="1415990" y="390495"/>
            <a:ext cx="874981" cy="721646"/>
          </a:xfrm>
          <a:prstGeom prst="roundRect">
            <a:avLst>
              <a:gd name="adj" fmla="val 16665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267" name="Screenshot 2025-05-30 at 3.01.45 AM.png" descr="Screenshot 2025-05-30 at 3.01.45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351257" y="662333"/>
            <a:ext cx="13267844" cy="110514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Experimental validation"/>
          <p:cNvSpPr txBox="1"/>
          <p:nvPr/>
        </p:nvSpPr>
        <p:spPr>
          <a:xfrm>
            <a:off x="637534" y="5107409"/>
            <a:ext cx="4732656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500" u="sng"/>
            </a:lvl1pPr>
          </a:lstStyle>
          <a:p>
            <a:pPr/>
            <a:r>
              <a:t>Experimental validation</a:t>
            </a:r>
          </a:p>
        </p:txBody>
      </p:sp>
      <p:sp>
        <p:nvSpPr>
          <p:cNvPr id="270" name="RCP"/>
          <p:cNvSpPr txBox="1"/>
          <p:nvPr/>
        </p:nvSpPr>
        <p:spPr>
          <a:xfrm>
            <a:off x="1776974" y="8049770"/>
            <a:ext cx="1379729" cy="82113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RCP</a:t>
            </a:r>
          </a:p>
        </p:txBody>
      </p:sp>
      <p:sp>
        <p:nvSpPr>
          <p:cNvPr id="271" name="Left Hand Helix optical fiber"/>
          <p:cNvSpPr txBox="1"/>
          <p:nvPr/>
        </p:nvSpPr>
        <p:spPr>
          <a:xfrm>
            <a:off x="6420189" y="6625471"/>
            <a:ext cx="7701890" cy="82113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Left Hand Helix optical fiber</a:t>
            </a:r>
          </a:p>
        </p:txBody>
      </p:sp>
      <p:sp>
        <p:nvSpPr>
          <p:cNvPr id="272" name="Line"/>
          <p:cNvSpPr/>
          <p:nvPr/>
        </p:nvSpPr>
        <p:spPr>
          <a:xfrm>
            <a:off x="3366093" y="9364766"/>
            <a:ext cx="1864646" cy="81643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3" name="Line"/>
          <p:cNvSpPr/>
          <p:nvPr/>
        </p:nvSpPr>
        <p:spPr>
          <a:xfrm flipV="1">
            <a:off x="3664009" y="7232768"/>
            <a:ext cx="1908153" cy="100561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4" name="Right Hand Helix optical fiber"/>
          <p:cNvSpPr txBox="1"/>
          <p:nvPr/>
        </p:nvSpPr>
        <p:spPr>
          <a:xfrm>
            <a:off x="5996124" y="10284733"/>
            <a:ext cx="8096912" cy="82113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Right Hand Helix optical fiber</a:t>
            </a:r>
          </a:p>
        </p:txBody>
      </p:sp>
      <p:sp>
        <p:nvSpPr>
          <p:cNvPr id="275" name="Line"/>
          <p:cNvSpPr/>
          <p:nvPr/>
        </p:nvSpPr>
        <p:spPr>
          <a:xfrm>
            <a:off x="14548028" y="7666547"/>
            <a:ext cx="1850069" cy="81123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6" name="Line"/>
          <p:cNvSpPr/>
          <p:nvPr/>
        </p:nvSpPr>
        <p:spPr>
          <a:xfrm flipV="1">
            <a:off x="14548027" y="8892215"/>
            <a:ext cx="1852475" cy="139985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7" name="Interference pattern !!!"/>
          <p:cNvSpPr txBox="1"/>
          <p:nvPr/>
        </p:nvSpPr>
        <p:spPr>
          <a:xfrm>
            <a:off x="16841488" y="8255522"/>
            <a:ext cx="612008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Interference pattern !!!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ancharatnam-Berry phase"/>
          <p:cNvSpPr/>
          <p:nvPr/>
        </p:nvSpPr>
        <p:spPr>
          <a:xfrm>
            <a:off x="7147776" y="227526"/>
            <a:ext cx="10088448" cy="1601941"/>
          </a:xfrm>
          <a:prstGeom prst="roundRect">
            <a:avLst>
              <a:gd name="adj" fmla="val 11892"/>
            </a:avLst>
          </a:prstGeom>
          <a:solidFill>
            <a:schemeClr val="accent5">
              <a:hueOff val="-152895"/>
              <a:lumOff val="12368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5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Pancharatnam-Berry phase</a:t>
            </a:r>
          </a:p>
        </p:txBody>
      </p:sp>
      <p:sp>
        <p:nvSpPr>
          <p:cNvPr id="280" name="Pancharatnam-Berry phase: It arises when a polarized wave undergoes a continuous change in its polarization state, keeping the wavevector remains fixed, when propagate through an anisotropic medium."/>
          <p:cNvSpPr txBox="1"/>
          <p:nvPr/>
        </p:nvSpPr>
        <p:spPr>
          <a:xfrm>
            <a:off x="2321901" y="2263655"/>
            <a:ext cx="20460366" cy="1625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3500"/>
            </a:pPr>
            <a:r>
              <a:t>Pancharatnam-Berry phase: </a:t>
            </a:r>
            <a:r>
              <a:rPr b="0">
                <a:latin typeface="Helvetica"/>
                <a:ea typeface="Helvetica"/>
                <a:cs typeface="Helvetica"/>
                <a:sym typeface="Helvetica"/>
              </a:rPr>
              <a:t>It arises when a </a:t>
            </a:r>
            <a:r>
              <a:rPr b="0"/>
              <a:t>polarized</a:t>
            </a:r>
            <a:r>
              <a:t> </a:t>
            </a:r>
            <a:r>
              <a:rPr b="0"/>
              <a:t>wave</a:t>
            </a:r>
            <a:r>
              <a:rPr b="0">
                <a:latin typeface="Helvetica"/>
                <a:ea typeface="Helvetica"/>
                <a:cs typeface="Helvetica"/>
                <a:sym typeface="Helvetica"/>
              </a:rPr>
              <a:t> undergoes a </a:t>
            </a:r>
            <a:r>
              <a:rPr b="0"/>
              <a:t>continuous</a:t>
            </a:r>
            <a:r>
              <a:t> </a:t>
            </a:r>
            <a:r>
              <a:rPr b="0"/>
              <a:t>change in its polarization state</a:t>
            </a:r>
            <a:r>
              <a:rPr b="0">
                <a:latin typeface="Helvetica"/>
                <a:ea typeface="Helvetica"/>
                <a:cs typeface="Helvetica"/>
                <a:sym typeface="Helvetica"/>
              </a:rPr>
              <a:t>, keeping the </a:t>
            </a:r>
            <a:r>
              <a:rPr b="0"/>
              <a:t>wavevector remains fixed</a:t>
            </a:r>
            <a:r>
              <a:rPr b="0">
                <a:latin typeface="Helvetica"/>
                <a:ea typeface="Helvetica"/>
                <a:cs typeface="Helvetica"/>
                <a:sym typeface="Helvetica"/>
              </a:rPr>
              <a:t>, when propagate through an </a:t>
            </a:r>
            <a:r>
              <a:rPr b="0"/>
              <a:t>anisotropic medium</a:t>
            </a:r>
            <a:r>
              <a:rPr b="0">
                <a:latin typeface="Helvetica"/>
                <a:ea typeface="Helvetica"/>
                <a:cs typeface="Helvetica"/>
                <a:sym typeface="Helvetica"/>
              </a:rPr>
              <a:t>.</a:t>
            </a:r>
          </a:p>
        </p:txBody>
      </p:sp>
      <p:sp>
        <p:nvSpPr>
          <p:cNvPr id="281" name="Experimental validation"/>
          <p:cNvSpPr txBox="1"/>
          <p:nvPr/>
        </p:nvSpPr>
        <p:spPr>
          <a:xfrm>
            <a:off x="1093310" y="5221353"/>
            <a:ext cx="4856227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500" u="sng"/>
            </a:lvl1pPr>
          </a:lstStyle>
          <a:p>
            <a:pPr/>
            <a:r>
              <a:t>Experimental validation </a:t>
            </a:r>
          </a:p>
        </p:txBody>
      </p:sp>
      <p:pic>
        <p:nvPicPr>
          <p:cNvPr id="282" name="Screenshot 2025-05-30 at 3.11.23 AM.png" descr="Screenshot 2025-05-30 at 3.11.23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22874" y="6082015"/>
            <a:ext cx="15058419" cy="727253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How exactly changing polarisation state induces a geometrical phase?"/>
          <p:cNvSpPr txBox="1"/>
          <p:nvPr/>
        </p:nvSpPr>
        <p:spPr>
          <a:xfrm>
            <a:off x="552076" y="678251"/>
            <a:ext cx="1931853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How exactly changing polarisation state induces a geometrical phase?</a:t>
            </a:r>
          </a:p>
        </p:txBody>
      </p:sp>
      <p:sp>
        <p:nvSpPr>
          <p:cNvPr id="285" name="Mathematics, by using Jones vector and Jones matrix"/>
          <p:cNvSpPr txBox="1"/>
          <p:nvPr/>
        </p:nvSpPr>
        <p:spPr>
          <a:xfrm>
            <a:off x="580562" y="1931634"/>
            <a:ext cx="14828217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pPr/>
            <a:r>
              <a:t>Mathematics, by using Jones vector and Jones matrix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Jones vector"/>
          <p:cNvSpPr txBox="1"/>
          <p:nvPr/>
        </p:nvSpPr>
        <p:spPr>
          <a:xfrm>
            <a:off x="922394" y="450363"/>
            <a:ext cx="3625597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Jones vector</a:t>
            </a:r>
          </a:p>
        </p:txBody>
      </p:sp>
      <p:pic>
        <p:nvPicPr>
          <p:cNvPr id="288" name="Screenshot 2025-05-30 at 3.37.49 AM.png" descr="Screenshot 2025-05-30 at 3.37.49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1922" y="2294249"/>
            <a:ext cx="14205463" cy="9783008"/>
          </a:xfrm>
          <a:prstGeom prst="rect">
            <a:avLst/>
          </a:prstGeom>
          <a:ln w="12700">
            <a:miter lim="400000"/>
          </a:ln>
        </p:spPr>
      </p:pic>
      <p:sp>
        <p:nvSpPr>
          <p:cNvPr id="289" name="Rounded Rectangle"/>
          <p:cNvSpPr/>
          <p:nvPr/>
        </p:nvSpPr>
        <p:spPr>
          <a:xfrm>
            <a:off x="191093" y="2270570"/>
            <a:ext cx="1270001" cy="127000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0" name="Line"/>
          <p:cNvSpPr/>
          <p:nvPr/>
        </p:nvSpPr>
        <p:spPr>
          <a:xfrm>
            <a:off x="15252300" y="9579598"/>
            <a:ext cx="71942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91" name="Line"/>
          <p:cNvSpPr/>
          <p:nvPr/>
        </p:nvSpPr>
        <p:spPr>
          <a:xfrm flipV="1">
            <a:off x="18849410" y="7409626"/>
            <a:ext cx="1" cy="390161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92" name="Double Arrow"/>
          <p:cNvSpPr/>
          <p:nvPr/>
        </p:nvSpPr>
        <p:spPr>
          <a:xfrm>
            <a:off x="18032955" y="9343238"/>
            <a:ext cx="1632913" cy="472720"/>
          </a:xfrm>
          <a:prstGeom prst="leftRightArrow">
            <a:avLst>
              <a:gd name="adj1" fmla="val 32000"/>
              <a:gd name="adj2" fmla="val 69122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3" name="X"/>
          <p:cNvSpPr txBox="1"/>
          <p:nvPr/>
        </p:nvSpPr>
        <p:spPr>
          <a:xfrm>
            <a:off x="22543254" y="9394962"/>
            <a:ext cx="48676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X</a:t>
            </a:r>
          </a:p>
        </p:txBody>
      </p:sp>
      <p:sp>
        <p:nvSpPr>
          <p:cNvPr id="294" name="Y"/>
          <p:cNvSpPr txBox="1"/>
          <p:nvPr/>
        </p:nvSpPr>
        <p:spPr>
          <a:xfrm>
            <a:off x="18412787" y="6781537"/>
            <a:ext cx="50932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Screenshot 2025-05-30 at 3.45.39 AM.png" descr="Screenshot 2025-05-30 at 3.45.39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25174" y="773772"/>
            <a:ext cx="9206457" cy="5104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7" name="Screenshot_2020-09-28_191011.png.jpeg" descr="Screenshot_2020-09-28_191011.png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497966" y="7191057"/>
            <a:ext cx="16683179" cy="86309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Screenshot 2025-05-30 at 3.57.58 AM.png" descr="Screenshot 2025-05-30 at 3.57.58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9841" y="1042339"/>
            <a:ext cx="11788148" cy="11631322"/>
          </a:xfrm>
          <a:prstGeom prst="rect">
            <a:avLst/>
          </a:prstGeom>
          <a:ln w="12700">
            <a:miter lim="400000"/>
          </a:ln>
        </p:spPr>
      </p:pic>
      <p:pic>
        <p:nvPicPr>
          <p:cNvPr id="300" name="Screenshot 2025-05-30 at 3.58.18 AM.png" descr="Screenshot 2025-05-30 at 3.58.18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118207" y="1279688"/>
            <a:ext cx="11116160" cy="7707903"/>
          </a:xfrm>
          <a:prstGeom prst="rect">
            <a:avLst/>
          </a:prstGeom>
          <a:ln w="12700">
            <a:miter lim="400000"/>
          </a:ln>
        </p:spPr>
      </p:pic>
      <p:sp>
        <p:nvSpPr>
          <p:cNvPr id="301" name="Line"/>
          <p:cNvSpPr/>
          <p:nvPr/>
        </p:nvSpPr>
        <p:spPr>
          <a:xfrm flipV="1">
            <a:off x="12827000" y="630845"/>
            <a:ext cx="1" cy="10344536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02" name="Jones matrix"/>
          <p:cNvSpPr txBox="1"/>
          <p:nvPr/>
        </p:nvSpPr>
        <p:spPr>
          <a:xfrm>
            <a:off x="438132" y="250961"/>
            <a:ext cx="3614625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Jones matrix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Screenshot 2025-05-30 at 3.11.23 AM.png" descr="Screenshot 2025-05-30 at 3.11.23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95000" y="1495772"/>
            <a:ext cx="21394000" cy="103323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Screenshot 2025-05-30 at 4.10.15 AM.png" descr="Screenshot 2025-05-30 at 4.10.15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2891" y="977632"/>
            <a:ext cx="15583652" cy="113335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Screenshot 2025-05-30 at 4.10.40 AM.png" descr="Screenshot 2025-05-30 at 4.10.40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8599" y="603828"/>
            <a:ext cx="15919672" cy="4029579"/>
          </a:xfrm>
          <a:prstGeom prst="rect">
            <a:avLst/>
          </a:prstGeom>
          <a:ln w="12700">
            <a:miter lim="400000"/>
          </a:ln>
        </p:spPr>
      </p:pic>
      <p:pic>
        <p:nvPicPr>
          <p:cNvPr id="309" name="Screenshot 2025-05-30 at 4.19.39 AM.png" descr="Screenshot 2025-05-30 at 4.19.39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41652" y="5625565"/>
            <a:ext cx="12418087" cy="61395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Let’s Rotate the QWP2 with uniform angular velocity"/>
          <p:cNvSpPr txBox="1"/>
          <p:nvPr/>
        </p:nvSpPr>
        <p:spPr>
          <a:xfrm>
            <a:off x="324188" y="387400"/>
            <a:ext cx="10488550" cy="635255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500"/>
            </a:lvl1pPr>
          </a:lstStyle>
          <a:p>
            <a:pPr/>
            <a:r>
              <a:t>Let’s Rotate the QWP2 with uniform angular velocity</a:t>
            </a:r>
          </a:p>
        </p:txBody>
      </p:sp>
      <p:pic>
        <p:nvPicPr>
          <p:cNvPr id="312" name="Screenshot 2025-06-02 at 2.00.19 AM.png" descr="Screenshot 2025-06-02 at 2.00.19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3726" y="2131703"/>
            <a:ext cx="14049535" cy="10321101"/>
          </a:xfrm>
          <a:prstGeom prst="rect">
            <a:avLst/>
          </a:prstGeom>
          <a:ln w="12700">
            <a:miter lim="400000"/>
          </a:ln>
        </p:spPr>
      </p:pic>
      <p:sp>
        <p:nvSpPr>
          <p:cNvPr id="313" name="Rectangle"/>
          <p:cNvSpPr/>
          <p:nvPr/>
        </p:nvSpPr>
        <p:spPr>
          <a:xfrm>
            <a:off x="6087691" y="6950394"/>
            <a:ext cx="3186685" cy="1044005"/>
          </a:xfrm>
          <a:prstGeom prst="rect">
            <a:avLst/>
          </a:prstGeom>
          <a:solidFill>
            <a:srgbClr val="000000">
              <a:alpha val="1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OI in inhomogeneous anisotropic medium"/>
          <p:cNvSpPr/>
          <p:nvPr/>
        </p:nvSpPr>
        <p:spPr>
          <a:xfrm>
            <a:off x="7147776" y="227526"/>
            <a:ext cx="10088448" cy="1601941"/>
          </a:xfrm>
          <a:prstGeom prst="roundRect">
            <a:avLst>
              <a:gd name="adj" fmla="val 11892"/>
            </a:avLst>
          </a:prstGeom>
          <a:solidFill>
            <a:schemeClr val="accent5">
              <a:hueOff val="-152895"/>
              <a:lumOff val="12368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5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SOI in inhomogeneous anisotropic medium</a:t>
            </a:r>
          </a:p>
        </p:txBody>
      </p:sp>
      <p:sp>
        <p:nvSpPr>
          <p:cNvPr id="316" name="inhomogeneous anisotropic medium( i.e., a medium having a spatially varying axis of anisotropy),…"/>
          <p:cNvSpPr txBox="1"/>
          <p:nvPr/>
        </p:nvSpPr>
        <p:spPr>
          <a:xfrm>
            <a:off x="941185" y="2801240"/>
            <a:ext cx="23052207" cy="170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500">
                <a:latin typeface="Helvetica"/>
                <a:ea typeface="Helvetica"/>
                <a:cs typeface="Helvetica"/>
                <a:sym typeface="Helvetica"/>
              </a:defRPr>
            </a:pPr>
            <a:r>
              <a:rPr b="1"/>
              <a:t> inhomogeneous anisotropic medium(</a:t>
            </a:r>
            <a:r>
              <a:t> i.e., a medium having a spatially varying axis of anisotropy),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500">
                <a:latin typeface="Helvetica"/>
                <a:ea typeface="Helvetica"/>
                <a:cs typeface="Helvetica"/>
                <a:sym typeface="Helvetica"/>
              </a:defRPr>
            </a:pPr>
            <a:r>
              <a:t>Specially, axis of anisotropy varying linearly on Azimuthal angle.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500">
                <a:latin typeface="Helvetica"/>
                <a:ea typeface="Helvetica"/>
                <a:cs typeface="Helvetica"/>
                <a:sym typeface="Helvetica"/>
              </a:defRPr>
            </a:pPr>
            <a:r>
              <a:t>As,</a:t>
            </a:r>
          </a:p>
        </p:txBody>
      </p:sp>
      <p:pic>
        <p:nvPicPr>
          <p:cNvPr id="317" name="Screenshot 2025-06-02 at 1.03.13 AM.png" descr="Screenshot 2025-06-02 at 1.03.13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9325" y="4957318"/>
            <a:ext cx="11538974" cy="5064725"/>
          </a:xfrm>
          <a:prstGeom prst="rect">
            <a:avLst/>
          </a:prstGeom>
          <a:ln w="12700">
            <a:miter lim="400000"/>
          </a:ln>
        </p:spPr>
      </p:pic>
      <p:sp>
        <p:nvSpPr>
          <p:cNvPr id="318" name="Line"/>
          <p:cNvSpPr/>
          <p:nvPr/>
        </p:nvSpPr>
        <p:spPr>
          <a:xfrm flipV="1">
            <a:off x="12467288" y="5282961"/>
            <a:ext cx="1" cy="6717576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319" name="Screenshot 2025-06-02 at 2.02.11 AM.png" descr="Screenshot 2025-06-02 at 2.02.11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54233" y="5788611"/>
            <a:ext cx="10829424" cy="46566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Screenshot 2025-06-02 at 1.16.05 AM.png" descr="Screenshot 2025-06-02 at 1.16.05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73263" y="1771917"/>
            <a:ext cx="13906319" cy="8619618"/>
          </a:xfrm>
          <a:prstGeom prst="rect">
            <a:avLst/>
          </a:prstGeom>
          <a:ln w="12700">
            <a:miter lim="400000"/>
          </a:ln>
        </p:spPr>
      </p:pic>
      <p:sp>
        <p:nvSpPr>
          <p:cNvPr id="322" name="Example"/>
          <p:cNvSpPr txBox="1"/>
          <p:nvPr/>
        </p:nvSpPr>
        <p:spPr>
          <a:xfrm>
            <a:off x="1691515" y="415886"/>
            <a:ext cx="1860361" cy="635255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500"/>
            </a:lvl1pPr>
          </a:lstStyle>
          <a:p>
            <a:pPr/>
            <a:r>
              <a:t>Example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Screenshot 2025-06-02 at 1.16.27 AM.png" descr="Screenshot 2025-06-02 at 1.16.27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9174" y="2381986"/>
            <a:ext cx="14206337" cy="747579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Screenshot 2025-06-02 at 3.21.56 AM.png" descr="Screenshot 2025-06-02 at 3.21.56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9953" y="713440"/>
            <a:ext cx="16367472" cy="77003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hank you"/>
          <p:cNvSpPr txBox="1"/>
          <p:nvPr/>
        </p:nvSpPr>
        <p:spPr>
          <a:xfrm>
            <a:off x="9562401" y="6168806"/>
            <a:ext cx="5259198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